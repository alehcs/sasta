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4389120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Aptos"/>
              </a:rPr>
              <a:t>SASTA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691640"/>
            <a:ext cx="877824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800" b="0">
                <a:solidFill>
                  <a:srgbClr val="E5E7EB"/>
                </a:solidFill>
                <a:latin typeface="Aptos"/>
              </a:rPr>
              <a:t>Sistema de Alerta de Separación y Tráfico Aéreo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12848"/>
            <a:ext cx="62179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150" b="0">
                <a:solidFill>
                  <a:srgbClr val="38BDF8"/>
                </a:solidFill>
                <a:latin typeface="Aptos"/>
              </a:rPr>
              <a:t>Demo académica · Gestión de Calidad de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51960"/>
            <a:ext cx="1965960" cy="822960"/>
          </a:xfrm>
          <a:prstGeom prst="roundRect">
            <a:avLst/>
          </a:prstGeom>
          <a:solidFill>
            <a:srgbClr val="1F293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4370832"/>
            <a:ext cx="169163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100" b="1">
                <a:solidFill>
                  <a:srgbClr val="22C55E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754880"/>
            <a:ext cx="169163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Aptos"/>
              </a:rPr>
              <a:t>aeronaves válidas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251960"/>
            <a:ext cx="1965960" cy="822960"/>
          </a:xfrm>
          <a:prstGeom prst="roundRect">
            <a:avLst/>
          </a:prstGeom>
          <a:solidFill>
            <a:srgbClr val="1F293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4" y="4370832"/>
            <a:ext cx="169163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1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5224" y="4754880"/>
            <a:ext cx="169163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Aptos"/>
              </a:rPr>
              <a:t>registros descartados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251960"/>
            <a:ext cx="1965960" cy="822960"/>
          </a:xfrm>
          <a:prstGeom prst="roundRect">
            <a:avLst/>
          </a:prstGeom>
          <a:solidFill>
            <a:srgbClr val="1F293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4370832"/>
            <a:ext cx="169163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100" b="1">
                <a:solidFill>
                  <a:srgbClr val="38BDF8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4754880"/>
            <a:ext cx="169163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Aptos"/>
              </a:rPr>
              <a:t>pares evaluados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251960"/>
            <a:ext cx="1965960" cy="822960"/>
          </a:xfrm>
          <a:prstGeom prst="roundRect">
            <a:avLst/>
          </a:prstGeom>
          <a:solidFill>
            <a:srgbClr val="1F293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4370832"/>
            <a:ext cx="169163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100" b="1">
                <a:solidFill>
                  <a:srgbClr val="22C55E"/>
                </a:solidFill>
                <a:latin typeface="Aptos"/>
              </a:rPr>
              <a:t>7 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4754880"/>
            <a:ext cx="169163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Aptos"/>
              </a:rPr>
              <a:t>pruebas unitarias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251960"/>
            <a:ext cx="1965960" cy="822960"/>
          </a:xfrm>
          <a:prstGeom prst="roundRect">
            <a:avLst/>
          </a:prstGeom>
          <a:solidFill>
            <a:srgbClr val="1F293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4370832"/>
            <a:ext cx="169163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100" b="1">
                <a:solidFill>
                  <a:srgbClr val="22C55E"/>
                </a:solidFill>
                <a:latin typeface="Aptos"/>
              </a:rPr>
              <a:t>6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4754880"/>
            <a:ext cx="169163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0">
                <a:solidFill>
                  <a:srgbClr val="94A3B8"/>
                </a:solidFill>
                <a:latin typeface="Aptos"/>
              </a:rPr>
              <a:t>validación cruzada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98755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300" b="0">
                <a:solidFill>
                  <a:srgbClr val="E5E7EB"/>
                </a:solidFill>
                <a:latin typeface="Aptos"/>
              </a:rPr>
              <a:t>Objetivo: evidenciar construcción, validación, cálculo crítico, alertas, pruebas y trazabilidad.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El riesgo no está solo en calcular, sino en demostrar calidad.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35661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36776"/>
            <a:ext cx="3063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11680"/>
            <a:ext cx="3063240" cy="2971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Detectar acercamientos peligrosos entre aeronaves usando datos de posición, altitud, velocidad y rumbo.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3566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36776"/>
            <a:ext cx="3063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Objetivo SASTA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11680"/>
            <a:ext cx="3063240" cy="2971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Implementar un núcleo inicial que lea datos, valide registros, calcule proyecciones y clasifique alertas.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64008" cy="35661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36776"/>
            <a:ext cx="3063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Criterio de calidad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11680"/>
            <a:ext cx="3063240" cy="2971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Evidenciar modularidad, pruebas unitarias, logs, trazabilidad y validación cruzada Python/Java.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DISEÑO 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La demo separa ingesta, cálculo crítico, reglas y presentación.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600200" cy="10058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64008" cy="10058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276856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51760"/>
            <a:ext cx="128016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148840"/>
            <a:ext cx="1600200" cy="10058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2148840"/>
            <a:ext cx="64008" cy="10058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276856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Ingesta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651760"/>
            <a:ext cx="128016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validación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48840"/>
            <a:ext cx="1600200" cy="10058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148840"/>
            <a:ext cx="64008" cy="10058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2276856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Cálculo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2651760"/>
            <a:ext cx="128016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proyección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148840"/>
            <a:ext cx="1600200" cy="10058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2148840"/>
            <a:ext cx="64008" cy="10058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276856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Alertas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2651760"/>
            <a:ext cx="128016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clasificación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148840"/>
            <a:ext cx="1600200" cy="10058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2148840"/>
            <a:ext cx="64008" cy="10058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2276856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2651760"/>
            <a:ext cx="128016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visual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160520"/>
            <a:ext cx="1828800" cy="10058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160520"/>
            <a:ext cx="64008" cy="10058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288536"/>
            <a:ext cx="1508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Java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663440"/>
            <a:ext cx="150876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cálculo espejo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160520"/>
            <a:ext cx="2148840" cy="10058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4160520"/>
            <a:ext cx="64008" cy="10058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288536"/>
            <a:ext cx="1828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Validador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4663440"/>
            <a:ext cx="18288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tolerancia &lt;= 0.01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77840"/>
            <a:ext cx="105156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50" b="0">
                <a:solidFill>
                  <a:srgbClr val="E5E7EB"/>
                </a:solidFill>
                <a:latin typeface="Aptos"/>
              </a:rPr>
              <a:t>El cálculo cinemático es el núcleo crítico: se ejecuta en Python y se replica en Java para comparar resultados.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MÓDULOS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Cada archivo tiene una responsabilidad verificable.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19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38BDF8"/>
                </a:solidFill>
                <a:latin typeface="Aptos"/>
              </a:rPr>
              <a:t>ingesta_modulo.py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8808" y="1508760"/>
            <a:ext cx="6492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Lectura CSV, validaciones, descartes y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75688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38BDF8"/>
                </a:solidFill>
                <a:latin typeface="Aptos"/>
              </a:rPr>
              <a:t>calculo_cinematico_modulo.py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2167128"/>
            <a:ext cx="6492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Tiempo crítico, distancia horizontal y vertical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34056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25496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38BDF8"/>
                </a:solidFill>
                <a:latin typeface="Aptos"/>
              </a:rPr>
              <a:t>motor_alertas_modulo.py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2825496"/>
            <a:ext cx="6492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Reglas VERDE, AMARILLO y ROJO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92424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83864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38BDF8"/>
                </a:solidFill>
                <a:latin typeface="Aptos"/>
              </a:rPr>
              <a:t>validador_consistencia_modulo.py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3483864"/>
            <a:ext cx="6492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Comparación Python/Java con tolerancia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50791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42231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38BDF8"/>
                </a:solidFill>
                <a:latin typeface="Aptos"/>
              </a:rPr>
              <a:t>app_streamlit.py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4142231"/>
            <a:ext cx="6492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Dashboard, tabla de alertas y radar 2D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00600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38BDF8"/>
                </a:solidFill>
                <a:latin typeface="Aptos"/>
              </a:rPr>
              <a:t>java/SastaCalculator.java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4800600"/>
            <a:ext cx="6492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Implementación Java del cálculo crítico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ENTRADA Y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El CSV controla casos normales, borde, error y regla de negocio.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257800" cy="42976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64008" cy="42976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91056"/>
            <a:ext cx="4937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Variables de 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65960"/>
            <a:ext cx="4937760" cy="3703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id · pos_x · pos_y · alt_z · vel_h · angulo · tasa_v
Representan identificación, posición X/Y, altitud, velocidad horizontal, rumbo y tasa vertical.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257800" cy="42976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64008" cy="4297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91056"/>
            <a:ext cx="4937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Reglas principales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65960"/>
            <a:ext cx="4937760" cy="3703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RN-05: excluir altitud &lt; 100 ft.
Conflicto: Dist.H &lt; 5 NM y Dist.V &lt; 1000 ft.
ROJO: conflicto en &lt; 2 min.
AMARILLO: conflicto entre 2 y 5 min.
VERDE: sin conflicto o trayectoria divergente.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CÁLCULO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Python y Java ejecutan el mismo algoritmo para reforzar confianza.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474720" cy="42062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42062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36776"/>
            <a:ext cx="3154679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11680"/>
            <a:ext cx="3154679" cy="36118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calculo_cinematico_modulo.py
- descomponer_velocidad()
- calcular_proyecciones()
- exportar_resultados_python.py
Salida: data/resultados_python.csv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42062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64008" cy="42062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36776"/>
            <a:ext cx="3154679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11680"/>
            <a:ext cx="3154679" cy="36118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java/SastaCalculator.java
- lee el mismo CSV
- aplica validaciones mínimas
- calcula pares equivalentes
Salida: data/resultados_java.csv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74720" cy="420624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64008" cy="42062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636776"/>
            <a:ext cx="3154679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Comparación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011680"/>
            <a:ext cx="3154679" cy="36118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validador_consistencia_modulo.py
- compara por par id_a-id_b
- tolerancia &lt;= 0.01
- estado OK o REVISAR
Evidencia actual: 6 pares 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DEMO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Streamlit es la evidencia principal de funcionamiento.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257800" cy="448056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44805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4937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Dashboard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4937760" cy="3886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Comando:
streamlit run app_streamlit.py
Muestra métricas, tabla de alertas, registros descartados, radar 2D y validación cruzada.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448056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64008" cy="44805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45336"/>
            <a:ext cx="4937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Qué explicar en pantalla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20240"/>
            <a:ext cx="4937760" cy="3886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1. Métricas: 4 válidas, 3 descartadas, 6 pares.
2. V01-V02: alerta ROJA.
3. V05-V06: alerta VERDE.
4. Radar 2D: posición, trayectoria y punto futuro.
5. Expanders: descartes, calidad y validación cruzada.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DEMO POR CONSOLA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La consola deja una evidencia mínima, reproducible y verificable.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52760" cy="416052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875520" cy="34290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400" b="0">
                <a:solidFill>
                  <a:srgbClr val="22C55E"/>
                </a:solidFill>
                <a:latin typeface="Aptos"/>
              </a:rPr>
              <a:t>cd sasta-demo
.venv\Scripts\activate.bat
python src\main.py
Resultado esperado:
4 aeronaves válidas · 3 descartadas · 6 pares evaluados
V01-V02 =&gt; ROJO
V05-V06 =&gt; VERDE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PRUEBAS UNITARIAS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Los casos cubren normales, borde, error y regla de negocio.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05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94A3B8"/>
                </a:solidFill>
                <a:latin typeface="Aptos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417320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38BDF8"/>
                </a:solidFill>
                <a:latin typeface="Aptos"/>
              </a:rPr>
              <a:t>UT-NORM-01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1417320"/>
            <a:ext cx="4663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V01-V02 convergente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4463" y="1417320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F8FAFC"/>
                </a:solidFill>
                <a:latin typeface="Aptos"/>
              </a:rPr>
              <a:t>ROJO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56231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47672"/>
            <a:ext cx="1005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94A3B8"/>
                </a:solidFill>
                <a:latin typeface="Aptos"/>
              </a:rPr>
              <a:t>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947672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38BDF8"/>
                </a:solidFill>
                <a:latin typeface="Aptos"/>
              </a:rPr>
              <a:t>UT-NORM-02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47672"/>
            <a:ext cx="4663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V05-V06 paralelo a 6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1947672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F8FAFC"/>
                </a:solidFill>
                <a:latin typeface="Aptos"/>
              </a:rPr>
              <a:t>VERDE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86584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78024"/>
            <a:ext cx="1005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94A3B8"/>
                </a:solidFill>
                <a:latin typeface="Aptos"/>
              </a:rPr>
              <a:t>Borde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1368" y="2478024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38BDF8"/>
                </a:solidFill>
                <a:latin typeface="Aptos"/>
              </a:rPr>
              <a:t>UT-BORD-01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478024"/>
            <a:ext cx="4663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Distancia horizontal = 5.00 NM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478024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F8FAFC"/>
                </a:solidFill>
                <a:latin typeface="Aptos"/>
              </a:rPr>
              <a:t>VERDE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16936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08376"/>
            <a:ext cx="1005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94A3B8"/>
                </a:solidFill>
                <a:latin typeface="Aptos"/>
              </a:rPr>
              <a:t>Borde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1368" y="3008376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38BDF8"/>
                </a:solidFill>
                <a:latin typeface="Aptos"/>
              </a:rPr>
              <a:t>UT-BORD-02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3008376"/>
            <a:ext cx="4663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Tiempo crítico = 2.00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3008376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F8FAFC"/>
                </a:solidFill>
                <a:latin typeface="Aptos"/>
              </a:rPr>
              <a:t>AMARILLO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47288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538728"/>
            <a:ext cx="1005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94A3B8"/>
                </a:solidFill>
                <a:latin typeface="Aptos"/>
              </a:rPr>
              <a:t>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1368" y="3538728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38BDF8"/>
                </a:solidFill>
                <a:latin typeface="Aptos"/>
              </a:rPr>
              <a:t>UT-ERR-01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3538728"/>
            <a:ext cx="4663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Altitud negativa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3" y="3538728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F8FAFC"/>
                </a:solidFill>
                <a:latin typeface="Aptos"/>
              </a:rPr>
              <a:t>Descartado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77640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069080"/>
            <a:ext cx="1005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94A3B8"/>
                </a:solidFill>
                <a:latin typeface="Aptos"/>
              </a:rPr>
              <a:t>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1368" y="4069080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38BDF8"/>
                </a:solidFill>
                <a:latin typeface="Aptos"/>
              </a:rPr>
              <a:t>UT-ERR-02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9856" y="4069080"/>
            <a:ext cx="4663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vel_h = CORRUPTO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3" y="4069080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F8FAFC"/>
                </a:solidFill>
                <a:latin typeface="Aptos"/>
              </a:rPr>
              <a:t>Descartado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507992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599431"/>
            <a:ext cx="1005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94A3B8"/>
                </a:solidFill>
                <a:latin typeface="Aptos"/>
              </a:rPr>
              <a:t>Regla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1368" y="4599431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38BDF8"/>
                </a:solidFill>
                <a:latin typeface="Aptos"/>
              </a:rPr>
              <a:t>UT-RN-01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9856" y="4599431"/>
            <a:ext cx="4663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Altitud menor a 100 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3" y="4599431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F8FAFC"/>
                </a:solidFill>
                <a:latin typeface="Aptos"/>
              </a:rPr>
              <a:t>RN-05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559552"/>
            <a:ext cx="68580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Aptos"/>
              </a:rPr>
              <a:t>Comando: pytest  ·  Resultado actual: 7 pruebas aprobadas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Cada requisito tiene diseño, código y evidencia de prueba.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2344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40" b="1">
                <a:solidFill>
                  <a:srgbClr val="38BDF8"/>
                </a:solidFill>
                <a:latin typeface="Aptos"/>
              </a:rPr>
              <a:t>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417320"/>
            <a:ext cx="24231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40" b="1">
                <a:solidFill>
                  <a:srgbClr val="38BDF8"/>
                </a:solidFill>
                <a:latin typeface="Aptos"/>
              </a:rPr>
              <a:t>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6" y="1417320"/>
            <a:ext cx="24688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40" b="1">
                <a:solidFill>
                  <a:srgbClr val="38BDF8"/>
                </a:solidFill>
                <a:latin typeface="Aptos"/>
              </a:rPr>
              <a:t>Función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24344" y="1417320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40" b="1">
                <a:solidFill>
                  <a:srgbClr val="38BDF8"/>
                </a:solidFill>
                <a:latin typeface="Aptos"/>
              </a:rPr>
              <a:t>Prueba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5752" y="1417320"/>
            <a:ext cx="20116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40" b="1">
                <a:solidFill>
                  <a:srgbClr val="38BDF8"/>
                </a:solidFill>
                <a:latin typeface="Aptos"/>
              </a:rPr>
              <a:t>Esperado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0512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F8FAFC"/>
                </a:solidFill>
                <a:latin typeface="Aptos"/>
              </a:rPr>
              <a:t>RN-05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810512"/>
            <a:ext cx="24231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ingesta_modulo.py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810512"/>
            <a:ext cx="2468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cargar_aeronaves_csv()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4344" y="1810512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UT-RN-01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1810512"/>
            <a:ext cx="20116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Excluir &lt; 100 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59151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450591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F8FAFC"/>
                </a:solidFill>
                <a:latin typeface="Aptos"/>
              </a:rPr>
              <a:t>Conflicto crítico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450591"/>
            <a:ext cx="24231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motor_alertas_modulo.py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450591"/>
            <a:ext cx="2468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evaluar_alerta()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2450591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UT-NORM-01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450591"/>
            <a:ext cx="20116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ROJO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99232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090672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F8FAFC"/>
                </a:solidFill>
                <a:latin typeface="Aptos"/>
              </a:rPr>
              <a:t>Borde 5 NM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090672"/>
            <a:ext cx="24231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motor_alertas_modulo.py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3090672"/>
            <a:ext cx="2468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evaluar_alerta()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3090672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UT-BORD-01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090672"/>
            <a:ext cx="20116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VERDE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639312"/>
            <a:ext cx="11155680" cy="457200"/>
          </a:xfrm>
          <a:prstGeom prst="roundRect">
            <a:avLst/>
          </a:prstGeom>
          <a:solidFill>
            <a:srgbClr val="1F293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730752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F8FAFC"/>
                </a:solidFill>
                <a:latin typeface="Aptos"/>
              </a:rPr>
              <a:t>Borde 2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730752"/>
            <a:ext cx="24231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motor_alertas_modulo.py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4296" y="3730752"/>
            <a:ext cx="2468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evaluar_alerta()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3730752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UT-BORD-02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3730752"/>
            <a:ext cx="20116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AMARILLO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279392"/>
            <a:ext cx="11155680" cy="457200"/>
          </a:xfrm>
          <a:prstGeom prst="roundRect">
            <a:avLst/>
          </a:prstGeom>
          <a:solidFill>
            <a:srgbClr val="111827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370831"/>
            <a:ext cx="12344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1">
                <a:solidFill>
                  <a:srgbClr val="F8FAFC"/>
                </a:solidFill>
                <a:latin typeface="Aptos"/>
              </a:rPr>
              <a:t>RT-02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9968" y="4370831"/>
            <a:ext cx="24231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Python/Java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4296" y="4370831"/>
            <a:ext cx="2468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comparar_resultados()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4344" y="4370831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Auditoría cruzada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4370831"/>
            <a:ext cx="20116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19" b="0">
                <a:solidFill>
                  <a:srgbClr val="E5E7EB"/>
                </a:solidFill>
                <a:latin typeface="Aptos"/>
              </a:rPr>
              <a:t>OK &lt;= 0.01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DECISIONES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La demo evidencia avance técnico, no solo interfaz.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149840" cy="3474720"/>
          </a:xfrm>
          <a:prstGeom prst="rect">
            <a:avLst/>
          </a:prstGeom>
          <a:noFill/>
        </p:spPr>
        <p:txBody>
          <a:bodyPr wrap="none" lIns="54864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  <a:latin typeface="Aptos"/>
              </a:defRPr>
            </a:pPr>
            <a:r>
              <a:t>Separación modular: ingesta, cálculo, alertas, visualización y validación.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  <a:latin typeface="Aptos"/>
              </a:defRPr>
            </a:pPr>
            <a:r>
              <a:t>Validación temprana: registros corruptos no ingresan al cálculo.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  <a:latin typeface="Aptos"/>
              </a:defRPr>
            </a:pPr>
            <a:r>
              <a:t>Tolerancia a errores: una fila inválida no detiene el sistema.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  <a:latin typeface="Aptos"/>
              </a:defRPr>
            </a:pPr>
            <a:r>
              <a:t>Logs: evidencia de descartes y auditoría.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  <a:latin typeface="Aptos"/>
              </a:defRPr>
            </a:pPr>
            <a:r>
              <a:t>Pruebas unitarias: casos normales, borde, error y regla de negocio.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  <a:latin typeface="Aptos"/>
              </a:defRPr>
            </a:pPr>
            <a:r>
              <a:t>Validación cruzada RT-02: Python y Java deben coincidir con tolerancia &lt;= 0.01.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13248"/>
            <a:ext cx="98755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Aptos"/>
              </a:rPr>
              <a:t>Mensaje clave: el cálculo crítico está aislado, probado y contrastado.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Aptos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4128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2500" b="1">
                <a:solidFill>
                  <a:srgbClr val="F8FAFC"/>
                </a:solidFill>
                <a:latin typeface="Aptos"/>
              </a:rPr>
              <a:t>SASTA demuestra implementación inicial con evidencia verificable.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16152"/>
            <a:ext cx="1115568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SASTA · Gestión de Calidad de Software ·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3063240" cy="347472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64008" cy="3474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28216"/>
            <a:ext cx="2743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Qué se entrega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103120"/>
            <a:ext cx="2743200" cy="2880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Repositorio con documentación, diseño lógico, código, pruebas, dashboard y validación cruzada.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00200"/>
            <a:ext cx="3063240" cy="347472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00200"/>
            <a:ext cx="64008" cy="34747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728216"/>
            <a:ext cx="2743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Qué se demuestra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103120"/>
            <a:ext cx="2743200" cy="2880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Funcionamiento visual, cálculo crítico, reglas de negocio y trazabilidad requisito-diseño-código-prueba.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063240" cy="347472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64008" cy="3474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728216"/>
            <a:ext cx="2743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200" b="1">
                <a:solidFill>
                  <a:srgbClr val="F8FAFC"/>
                </a:solidFill>
                <a:latin typeface="Aptos"/>
              </a:rPr>
              <a:t>Cómo defenderlo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03120"/>
            <a:ext cx="2743200" cy="2880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050" b="0">
                <a:solidFill>
                  <a:srgbClr val="E5E7EB"/>
                </a:solidFill>
                <a:latin typeface="Aptos"/>
              </a:rPr>
              <a:t>Mostrar Streamlit, ejecutar consola, correr pytest y explicar la comparación Python/Java.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96926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Aptos"/>
              </a:rPr>
              <a:t>Cierre sugerido: SASTA no solo funciona; deja evidencia técnica de calidad.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